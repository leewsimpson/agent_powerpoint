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C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319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Global Market Outlook, Modest Growth with Elevated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</a:defRPr>
            </a:pPr>
            <a:r>
              <a:t>Modest but Positive</a:t>
            </a:r>
            <a:br/>
            <a:r>
              <a:t>Global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D6E0E6"/>
                </a:solidFill>
              </a:defRPr>
            </a:pPr>
            <a:r>
              <a:t>Global growth outlook modest but improving with easing inflation and potential rate cuts.</a:t>
            </a:r>
            <a:br/>
            <a:br/>
            <a:r>
              <a:t>J.P. Morgan Asset Management sees “decent momentum” as inflation eases and rate-cuts become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</a:defRPr>
            </a:pPr>
            <a:r>
              <a:t>Elevated Risk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D6E0E6"/>
                </a:solidFill>
              </a:defRPr>
            </a:pPr>
            <a:r>
              <a:t>Risks remain elevated: higher yields, inflation, geopolitical fragmentation, and structural shifts (tech/AI) all mean more volatility.</a:t>
            </a:r>
            <a:br/>
            <a:br/>
            <a:r>
              <a:t>Neuberger Berman notes elevated risks, and Goldman Sachs Asset Management highlights that higher yields and structural shifts continue to elevate volatility.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4319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FFFFF"/>
                </a:solidFill>
              </a:defRPr>
            </a:pPr>
            <a:r>
              <a:t>Strong Equity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4319" y="20116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D6E0E6"/>
                </a:solidFill>
              </a:defRPr>
            </a:pPr>
            <a:r>
              <a:t>Equity fundamentals remain relatively strong (e.g., corporate earnings, corporate balance sheets) which supports growth allocations.</a:t>
            </a:r>
            <a:br/>
            <a:br/>
            <a:r>
              <a:t>Neuberger Berman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4319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FFFFF"/>
                </a:solidFill>
              </a:defRPr>
            </a:pPr>
            <a:r>
              <a:t>U.S. equities are moderately favoured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4319" y="402336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D6E0E6"/>
                </a:solidFill>
              </a:defRPr>
            </a:pPr>
            <a:r>
              <a:t>U.S. equities are moderately favoured by major managers in the next 6 to 12 months.</a:t>
            </a:r>
            <a:br/>
            <a:br/>
            <a:r>
              <a:t>BlackRock says U.S. equities are overweight in a 6-12 month tactical horizon.</a:t>
            </a:r>
            <a:br/>
            <a:br/>
            <a:r>
              <a:t>Defensive allocations such as fixed income and alternatives are again gaining attention for the role they can play even in growth portfolios.</a:t>
            </a:r>
            <a:br/>
            <a:br/>
            <a:r>
              <a:t>Mutual Trust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5759" y="1737360"/>
            <a:ext cx="3840480" cy="3291840"/>
          </a:xfrm>
          <a:prstGeom prst="roundRect">
            <a:avLst/>
          </a:prstGeom>
          <a:solidFill>
            <a:srgbClr val="04444C"/>
          </a:solidFill>
          <a:ln>
            <a:solidFill>
              <a:srgbClr val="22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Moderately</a:t>
            </a:r>
            <a:br/>
            <a:r>
              <a:t>Positive</a:t>
            </a:r>
          </a:p>
          <a:p>
            <a:pPr algn="ctr">
              <a:defRPr sz="1100" b="0">
                <a:solidFill>
                  <a:srgbClr val="C8D6DA"/>
                </a:solidFill>
              </a:defRPr>
            </a:pPr>
            <a:r>
              <a:t>Global sentiment improving as inflation cools, but volatility remains elevated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5759" y="5074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B4C8CC"/>
                </a:solidFill>
              </a:defRPr>
            </a:pPr>
            <a:r>
              <a:t>Gauge graphic placeholder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7239" y="5440680"/>
            <a:ext cx="822960" cy="548640"/>
          </a:xfrm>
          <a:prstGeom prst="rect">
            <a:avLst/>
          </a:prstGeom>
          <a:solidFill>
            <a:srgbClr val="126068"/>
          </a:solidFill>
          <a:ln>
            <a:solidFill>
              <a:srgbClr val="3C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EBEE"/>
                </a:solidFill>
              </a:defRPr>
            </a:pPr>
            <a:r>
              <a:t>Equities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4519" y="5440680"/>
            <a:ext cx="822960" cy="548640"/>
          </a:xfrm>
          <a:prstGeom prst="rect">
            <a:avLst/>
          </a:prstGeom>
          <a:solidFill>
            <a:srgbClr val="126068"/>
          </a:solidFill>
          <a:ln>
            <a:solidFill>
              <a:srgbClr val="3C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EBEE"/>
                </a:solidFill>
              </a:defRPr>
            </a:pPr>
            <a:r>
              <a:t>Fixed Income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1799" y="5440680"/>
            <a:ext cx="822960" cy="548640"/>
          </a:xfrm>
          <a:prstGeom prst="rect">
            <a:avLst/>
          </a:prstGeom>
          <a:solidFill>
            <a:srgbClr val="126068"/>
          </a:solidFill>
          <a:ln>
            <a:solidFill>
              <a:srgbClr val="3C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EBEE"/>
                </a:solidFill>
              </a:defRPr>
            </a:pPr>
            <a:r>
              <a:t>Alternatives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6319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 i="0">
                <a:solidFill>
                  <a:srgbClr val="C8D6DA"/>
                </a:solidFill>
              </a:defRPr>
            </a:pPr>
            <a:r>
              <a:t>Global markets move forward with careful optimism, balancing growth opportunities with disciplined risk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